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notesMasterIdLst>
    <p:notesMasterId r:id="rId16"/>
  </p:notesMasterIdLst>
  <p:sldIdLst>
    <p:sldId id="25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29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ерфилова" initials="МП" lastIdx="1" clrIdx="0">
    <p:extLst>
      <p:ext uri="{19B8F6BF-5375-455C-9EA6-DF929625EA0E}">
        <p15:presenceInfo xmlns:p15="http://schemas.microsoft.com/office/powerpoint/2012/main" userId="7993908a77b8c6e9" providerId="Windows Live"/>
      </p:ext>
    </p:extLst>
  </p:cmAuthor>
  <p:cmAuthor id="2" name="Tanya Lashina" initials="TL" lastIdx="1" clrIdx="1">
    <p:extLst>
      <p:ext uri="{19B8F6BF-5375-455C-9EA6-DF929625EA0E}">
        <p15:presenceInfo xmlns:p15="http://schemas.microsoft.com/office/powerpoint/2012/main" userId="16aed683b0a47103" providerId="Windows Live"/>
      </p:ext>
    </p:extLst>
  </p:cmAuthor>
  <p:cmAuthor id="3" name="Александр Иванов" initials="АИ" lastIdx="1" clrIdx="2">
    <p:extLst>
      <p:ext uri="{19B8F6BF-5375-455C-9EA6-DF929625EA0E}">
        <p15:presenceInfo xmlns:p15="http://schemas.microsoft.com/office/powerpoint/2012/main" userId="991c053cc5640a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717"/>
    <a:srgbClr val="8F3738"/>
    <a:srgbClr val="650719"/>
    <a:srgbClr val="44A677"/>
    <a:srgbClr val="B0725D"/>
    <a:srgbClr val="E79A3C"/>
    <a:srgbClr val="C1AEB2"/>
    <a:srgbClr val="D5E8D4"/>
    <a:srgbClr val="86D6B6"/>
    <a:srgbClr val="5CB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AF606853-7671-496A-8E4F-DF71F8EC918B}" styleName="Темный стиль 1 — акцент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мирхан Алибеков" userId="24f9cf1133c31305" providerId="LiveId" clId="{01720B25-C579-44A0-839D-2E417D2C2494}"/>
    <pc:docChg chg="custSel modSld">
      <pc:chgData name="Амирхан Алибеков" userId="24f9cf1133c31305" providerId="LiveId" clId="{01720B25-C579-44A0-839D-2E417D2C2494}" dt="2026-06-03T13:49:49.504" v="126" actId="14100"/>
      <pc:docMkLst>
        <pc:docMk/>
      </pc:docMkLst>
      <pc:sldChg chg="modSp mod">
        <pc:chgData name="Амирхан Алибеков" userId="24f9cf1133c31305" providerId="LiveId" clId="{01720B25-C579-44A0-839D-2E417D2C2494}" dt="2026-06-03T13:49:49.504" v="126" actId="14100"/>
        <pc:sldMkLst>
          <pc:docMk/>
          <pc:sldMk cId="3902089511" sldId="294"/>
        </pc:sldMkLst>
        <pc:spChg chg="mod">
          <ac:chgData name="Амирхан Алибеков" userId="24f9cf1133c31305" providerId="LiveId" clId="{01720B25-C579-44A0-839D-2E417D2C2494}" dt="2026-06-03T13:49:49.504" v="126" actId="14100"/>
          <ac:spMkLst>
            <pc:docMk/>
            <pc:sldMk cId="3902089511" sldId="294"/>
            <ac:spMk id="11" creationId="{00000000-0000-0000-0000-000000000000}"/>
          </ac:spMkLst>
        </pc:spChg>
      </pc:sldChg>
      <pc:sldChg chg="delSp modSp mod">
        <pc:chgData name="Амирхан Алибеков" userId="24f9cf1133c31305" providerId="LiveId" clId="{01720B25-C579-44A0-839D-2E417D2C2494}" dt="2026-06-03T13:29:21.720" v="19" actId="404"/>
        <pc:sldMkLst>
          <pc:docMk/>
          <pc:sldMk cId="3105297360" sldId="298"/>
        </pc:sldMkLst>
        <pc:spChg chg="mod">
          <ac:chgData name="Амирхан Алибеков" userId="24f9cf1133c31305" providerId="LiveId" clId="{01720B25-C579-44A0-839D-2E417D2C2494}" dt="2026-06-03T13:29:10" v="13" actId="403"/>
          <ac:spMkLst>
            <pc:docMk/>
            <pc:sldMk cId="3105297360" sldId="298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29:13.517" v="15" actId="403"/>
          <ac:spMkLst>
            <pc:docMk/>
            <pc:sldMk cId="3105297360" sldId="298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29:21.720" v="19" actId="404"/>
          <ac:spMkLst>
            <pc:docMk/>
            <pc:sldMk cId="3105297360" sldId="298"/>
            <ac:spMk id="10" creationId="{00000000-0000-0000-0000-000000000000}"/>
          </ac:spMkLst>
        </pc:spChg>
        <pc:spChg chg="del mod">
          <ac:chgData name="Амирхан Алибеков" userId="24f9cf1133c31305" providerId="LiveId" clId="{01720B25-C579-44A0-839D-2E417D2C2494}" dt="2026-06-03T13:28:39.402" v="5" actId="478"/>
          <ac:spMkLst>
            <pc:docMk/>
            <pc:sldMk cId="3105297360" sldId="298"/>
            <ac:spMk id="11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29:04.686" v="11" actId="403"/>
          <ac:spMkLst>
            <pc:docMk/>
            <pc:sldMk cId="3105297360" sldId="298"/>
            <ac:spMk id="12" creationId="{00000000-0000-0000-0000-000000000000}"/>
          </ac:spMkLst>
        </pc:spChg>
        <pc:picChg chg="mod">
          <ac:chgData name="Амирхан Алибеков" userId="24f9cf1133c31305" providerId="LiveId" clId="{01720B25-C579-44A0-839D-2E417D2C2494}" dt="2026-06-03T13:28:44.149" v="6" actId="1076"/>
          <ac:picMkLst>
            <pc:docMk/>
            <pc:sldMk cId="3105297360" sldId="298"/>
            <ac:picMk id="2" creationId="{914B6C22-397D-ED29-273A-753222236B9E}"/>
          </ac:picMkLst>
        </pc:picChg>
      </pc:sldChg>
      <pc:sldChg chg="modSp mod">
        <pc:chgData name="Амирхан Алибеков" userId="24f9cf1133c31305" providerId="LiveId" clId="{01720B25-C579-44A0-839D-2E417D2C2494}" dt="2026-06-03T13:31:10.352" v="51" actId="403"/>
        <pc:sldMkLst>
          <pc:docMk/>
          <pc:sldMk cId="0" sldId="299"/>
        </pc:sldMkLst>
        <pc:spChg chg="mod">
          <ac:chgData name="Амирхан Алибеков" userId="24f9cf1133c31305" providerId="LiveId" clId="{01720B25-C579-44A0-839D-2E417D2C2494}" dt="2026-06-03T13:30:11.495" v="23" actId="403"/>
          <ac:spMkLst>
            <pc:docMk/>
            <pc:sldMk cId="0" sldId="299"/>
            <ac:spMk id="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0:21.551" v="27" actId="404"/>
          <ac:spMkLst>
            <pc:docMk/>
            <pc:sldMk cId="0" sldId="299"/>
            <ac:spMk id="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1:02.648" v="45" actId="404"/>
          <ac:spMkLst>
            <pc:docMk/>
            <pc:sldMk cId="0" sldId="299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0:36.112" v="34" actId="403"/>
          <ac:spMkLst>
            <pc:docMk/>
            <pc:sldMk cId="0" sldId="299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1:05.863" v="48" actId="403"/>
          <ac:spMkLst>
            <pc:docMk/>
            <pc:sldMk cId="0" sldId="299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0:52.923" v="41" actId="403"/>
          <ac:spMkLst>
            <pc:docMk/>
            <pc:sldMk cId="0" sldId="299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1:10.352" v="51" actId="403"/>
          <ac:spMkLst>
            <pc:docMk/>
            <pc:sldMk cId="0" sldId="299"/>
            <ac:spMk id="10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0:59.124" v="44" actId="403"/>
          <ac:spMkLst>
            <pc:docMk/>
            <pc:sldMk cId="0" sldId="299"/>
            <ac:spMk id="11" creationId="{00000000-0000-0000-0000-000000000000}"/>
          </ac:spMkLst>
        </pc:spChg>
      </pc:sldChg>
      <pc:sldChg chg="modSp mod">
        <pc:chgData name="Амирхан Алибеков" userId="24f9cf1133c31305" providerId="LiveId" clId="{01720B25-C579-44A0-839D-2E417D2C2494}" dt="2026-06-03T13:34:54.470" v="57" actId="403"/>
        <pc:sldMkLst>
          <pc:docMk/>
          <pc:sldMk cId="0" sldId="300"/>
        </pc:sldMkLst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11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13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1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1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47.178" v="56" actId="404"/>
          <ac:spMkLst>
            <pc:docMk/>
            <pc:sldMk cId="0" sldId="300"/>
            <ac:spMk id="1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34:54.470" v="57" actId="403"/>
          <ac:spMkLst>
            <pc:docMk/>
            <pc:sldMk cId="0" sldId="300"/>
            <ac:spMk id="17" creationId="{00000000-0000-0000-0000-000000000000}"/>
          </ac:spMkLst>
        </pc:spChg>
      </pc:sldChg>
      <pc:sldChg chg="modSp mod">
        <pc:chgData name="Амирхан Алибеков" userId="24f9cf1133c31305" providerId="LiveId" clId="{01720B25-C579-44A0-839D-2E417D2C2494}" dt="2026-06-03T13:37:56.019" v="66" actId="404"/>
        <pc:sldMkLst>
          <pc:docMk/>
          <pc:sldMk cId="0" sldId="301"/>
        </pc:sldMkLst>
        <pc:spChg chg="mod">
          <ac:chgData name="Амирхан Алибеков" userId="24f9cf1133c31305" providerId="LiveId" clId="{01720B25-C579-44A0-839D-2E417D2C2494}" dt="2026-06-03T13:37:56.019" v="66" actId="404"/>
          <ac:spMkLst>
            <pc:docMk/>
            <pc:sldMk cId="0" sldId="301"/>
            <ac:spMk id="5" creationId="{00000000-0000-0000-0000-000000000000}"/>
          </ac:spMkLst>
        </pc:spChg>
        <pc:graphicFrameChg chg="modGraphic">
          <ac:chgData name="Амирхан Алибеков" userId="24f9cf1133c31305" providerId="LiveId" clId="{01720B25-C579-44A0-839D-2E417D2C2494}" dt="2026-06-03T13:37:46.296" v="61" actId="403"/>
          <ac:graphicFrameMkLst>
            <pc:docMk/>
            <pc:sldMk cId="0" sldId="301"/>
            <ac:graphicFrameMk id="4" creationId="{00000000-0000-0000-0000-000000000000}"/>
          </ac:graphicFrameMkLst>
        </pc:graphicFrameChg>
      </pc:sldChg>
      <pc:sldChg chg="modSp mod">
        <pc:chgData name="Амирхан Алибеков" userId="24f9cf1133c31305" providerId="LiveId" clId="{01720B25-C579-44A0-839D-2E417D2C2494}" dt="2026-06-03T13:40:16.248" v="75" actId="403"/>
        <pc:sldMkLst>
          <pc:docMk/>
          <pc:sldMk cId="0" sldId="302"/>
        </pc:sldMkLst>
        <pc:spChg chg="mod">
          <ac:chgData name="Амирхан Алибеков" userId="24f9cf1133c31305" providerId="LiveId" clId="{01720B25-C579-44A0-839D-2E417D2C2494}" dt="2026-06-03T13:40:16.248" v="75" actId="403"/>
          <ac:spMkLst>
            <pc:docMk/>
            <pc:sldMk cId="0" sldId="302"/>
            <ac:spMk id="5" creationId="{00000000-0000-0000-0000-000000000000}"/>
          </ac:spMkLst>
        </pc:spChg>
        <pc:graphicFrameChg chg="mod modGraphic">
          <ac:chgData name="Амирхан Алибеков" userId="24f9cf1133c31305" providerId="LiveId" clId="{01720B25-C579-44A0-839D-2E417D2C2494}" dt="2026-06-03T13:40:08.681" v="71" actId="1076"/>
          <ac:graphicFrameMkLst>
            <pc:docMk/>
            <pc:sldMk cId="0" sldId="302"/>
            <ac:graphicFrameMk id="4" creationId="{00000000-0000-0000-0000-000000000000}"/>
          </ac:graphicFrameMkLst>
        </pc:graphicFrameChg>
      </pc:sldChg>
      <pc:sldChg chg="modSp mod">
        <pc:chgData name="Амирхан Алибеков" userId="24f9cf1133c31305" providerId="LiveId" clId="{01720B25-C579-44A0-839D-2E417D2C2494}" dt="2026-06-03T13:42:12.231" v="85" actId="403"/>
        <pc:sldMkLst>
          <pc:docMk/>
          <pc:sldMk cId="0" sldId="303"/>
        </pc:sldMkLst>
        <pc:spChg chg="mod">
          <ac:chgData name="Амирхан Алибеков" userId="24f9cf1133c31305" providerId="LiveId" clId="{01720B25-C579-44A0-839D-2E417D2C2494}" dt="2026-06-03T13:41:53.215" v="78" actId="403"/>
          <ac:spMkLst>
            <pc:docMk/>
            <pc:sldMk cId="0" sldId="303"/>
            <ac:spMk id="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12.231" v="85" actId="403"/>
          <ac:spMkLst>
            <pc:docMk/>
            <pc:sldMk cId="0" sldId="303"/>
            <ac:spMk id="6" creationId="{00000000-0000-0000-0000-000000000000}"/>
          </ac:spMkLst>
        </pc:spChg>
        <pc:graphicFrameChg chg="modGraphic">
          <ac:chgData name="Амирхан Алибеков" userId="24f9cf1133c31305" providerId="LiveId" clId="{01720B25-C579-44A0-839D-2E417D2C2494}" dt="2026-06-03T13:42:01.092" v="82" actId="403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modSp mod">
        <pc:chgData name="Амирхан Алибеков" userId="24f9cf1133c31305" providerId="LiveId" clId="{01720B25-C579-44A0-839D-2E417D2C2494}" dt="2026-06-03T13:42:54.400" v="89" actId="403"/>
        <pc:sldMkLst>
          <pc:docMk/>
          <pc:sldMk cId="0" sldId="304"/>
        </pc:sldMkLst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10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2:54.400" v="89" actId="403"/>
          <ac:spMkLst>
            <pc:docMk/>
            <pc:sldMk cId="0" sldId="304"/>
            <ac:spMk id="11" creationId="{00000000-0000-0000-0000-000000000000}"/>
          </ac:spMkLst>
        </pc:spChg>
      </pc:sldChg>
      <pc:sldChg chg="modSp mod">
        <pc:chgData name="Амирхан Алибеков" userId="24f9cf1133c31305" providerId="LiveId" clId="{01720B25-C579-44A0-839D-2E417D2C2494}" dt="2026-06-03T13:44:57.162" v="95" actId="403"/>
        <pc:sldMkLst>
          <pc:docMk/>
          <pc:sldMk cId="0" sldId="305"/>
        </pc:sldMkLst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0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1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2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3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47.787" v="92" actId="403"/>
          <ac:spMkLst>
            <pc:docMk/>
            <pc:sldMk cId="0" sldId="305"/>
            <ac:spMk id="1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57.162" v="95" actId="403"/>
          <ac:spMkLst>
            <pc:docMk/>
            <pc:sldMk cId="0" sldId="305"/>
            <ac:spMk id="20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4:57.162" v="95" actId="403"/>
          <ac:spMkLst>
            <pc:docMk/>
            <pc:sldMk cId="0" sldId="305"/>
            <ac:spMk id="21" creationId="{00000000-0000-0000-0000-000000000000}"/>
          </ac:spMkLst>
        </pc:spChg>
      </pc:sldChg>
      <pc:sldChg chg="addSp delSp modSp mod">
        <pc:chgData name="Амирхан Алибеков" userId="24f9cf1133c31305" providerId="LiveId" clId="{01720B25-C579-44A0-839D-2E417D2C2494}" dt="2026-06-03T13:48:12.138" v="109" actId="1076"/>
        <pc:sldMkLst>
          <pc:docMk/>
          <pc:sldMk cId="0" sldId="306"/>
        </pc:sldMkLst>
        <pc:spChg chg="mod">
          <ac:chgData name="Амирхан Алибеков" userId="24f9cf1133c31305" providerId="LiveId" clId="{01720B25-C579-44A0-839D-2E417D2C2494}" dt="2026-06-03T13:45:29.129" v="98" actId="403"/>
          <ac:spMkLst>
            <pc:docMk/>
            <pc:sldMk cId="0" sldId="306"/>
            <ac:spMk id="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5:29.129" v="98" actId="403"/>
          <ac:spMkLst>
            <pc:docMk/>
            <pc:sldMk cId="0" sldId="306"/>
            <ac:spMk id="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5:29.129" v="98" actId="403"/>
          <ac:spMkLst>
            <pc:docMk/>
            <pc:sldMk cId="0" sldId="306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5:29.129" v="98" actId="403"/>
          <ac:spMkLst>
            <pc:docMk/>
            <pc:sldMk cId="0" sldId="306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5:29.129" v="98" actId="403"/>
          <ac:spMkLst>
            <pc:docMk/>
            <pc:sldMk cId="0" sldId="306"/>
            <ac:spMk id="8" creationId="{00000000-0000-0000-0000-000000000000}"/>
          </ac:spMkLst>
        </pc:spChg>
        <pc:spChg chg="del">
          <ac:chgData name="Амирхан Алибеков" userId="24f9cf1133c31305" providerId="LiveId" clId="{01720B25-C579-44A0-839D-2E417D2C2494}" dt="2026-06-03T13:47:57.177" v="105" actId="478"/>
          <ac:spMkLst>
            <pc:docMk/>
            <pc:sldMk cId="0" sldId="306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5:40.356" v="103" actId="404"/>
          <ac:spMkLst>
            <pc:docMk/>
            <pc:sldMk cId="0" sldId="306"/>
            <ac:spMk id="10" creationId="{00000000-0000-0000-0000-000000000000}"/>
          </ac:spMkLst>
        </pc:spChg>
        <pc:picChg chg="add mod modCrop">
          <ac:chgData name="Амирхан Алибеков" userId="24f9cf1133c31305" providerId="LiveId" clId="{01720B25-C579-44A0-839D-2E417D2C2494}" dt="2026-06-03T13:48:12.138" v="109" actId="1076"/>
          <ac:picMkLst>
            <pc:docMk/>
            <pc:sldMk cId="0" sldId="306"/>
            <ac:picMk id="11" creationId="{A4C0D25E-3218-2F34-A652-6A0A8985B33A}"/>
          </ac:picMkLst>
        </pc:picChg>
      </pc:sldChg>
      <pc:sldChg chg="modSp mod">
        <pc:chgData name="Амирхан Алибеков" userId="24f9cf1133c31305" providerId="LiveId" clId="{01720B25-C579-44A0-839D-2E417D2C2494}" dt="2026-06-03T13:48:43.002" v="112" actId="403"/>
        <pc:sldMkLst>
          <pc:docMk/>
          <pc:sldMk cId="0" sldId="307"/>
        </pc:sldMkLst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4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5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6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7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8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9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10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11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12" creationId="{00000000-0000-0000-0000-000000000000}"/>
          </ac:spMkLst>
        </pc:spChg>
        <pc:spChg chg="mod">
          <ac:chgData name="Амирхан Алибеков" userId="24f9cf1133c31305" providerId="LiveId" clId="{01720B25-C579-44A0-839D-2E417D2C2494}" dt="2026-06-03T13:48:43.002" v="112" actId="403"/>
          <ac:spMkLst>
            <pc:docMk/>
            <pc:sldMk cId="0" sldId="307"/>
            <ac:spMk id="13" creationId="{00000000-0000-0000-0000-000000000000}"/>
          </ac:spMkLst>
        </pc:spChg>
      </pc:sldChg>
      <pc:sldChg chg="modSp mod">
        <pc:chgData name="Амирхан Алибеков" userId="24f9cf1133c31305" providerId="LiveId" clId="{01720B25-C579-44A0-839D-2E417D2C2494}" dt="2026-06-03T13:49:19.413" v="120" actId="403"/>
        <pc:sldMkLst>
          <pc:docMk/>
          <pc:sldMk cId="0" sldId="308"/>
        </pc:sldMkLst>
        <pc:spChg chg="mod">
          <ac:chgData name="Амирхан Алибеков" userId="24f9cf1133c31305" providerId="LiveId" clId="{01720B25-C579-44A0-839D-2E417D2C2494}" dt="2026-06-03T13:49:19.413" v="120" actId="403"/>
          <ac:spMkLst>
            <pc:docMk/>
            <pc:sldMk cId="0" sldId="308"/>
            <ac:spMk id="5" creationId="{00000000-0000-0000-0000-000000000000}"/>
          </ac:spMkLst>
        </pc:spChg>
        <pc:graphicFrameChg chg="modGraphic">
          <ac:chgData name="Амирхан Алибеков" userId="24f9cf1133c31305" providerId="LiveId" clId="{01720B25-C579-44A0-839D-2E417D2C2494}" dt="2026-06-03T13:49:11.208" v="116" actId="403"/>
          <ac:graphicFrameMkLst>
            <pc:docMk/>
            <pc:sldMk cId="0" sldId="30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3B439-987C-4453-8AAA-474119ABB6B3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B2B6F-7592-42EB-B338-7DC97CAAC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54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07778" y="1122363"/>
            <a:ext cx="8628993" cy="2387600"/>
          </a:xfrm>
        </p:spPr>
        <p:txBody>
          <a:bodyPr anchor="b">
            <a:normAutofit/>
          </a:bodyPr>
          <a:lstStyle>
            <a:lvl1pPr algn="ctr">
              <a:defRPr sz="5400" b="0">
                <a:latin typeface="Impact" panose="020B080603090205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07778" y="3602038"/>
            <a:ext cx="862899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E5C23-F109-4AB1-9432-B306F6415F1C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5633E7-65A2-4D43-A867-D24E2F42B1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034" y="872636"/>
            <a:ext cx="1996966" cy="199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4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9C60-1E33-4361-A825-3A08092FC82B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29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65071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F25D3-6820-40CC-99A2-66A09BA82B77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575EB3-7A84-4326-91E4-A5F47A0ED5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3600" y="905901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32F5-9DD7-4722-AE2C-AC23BEBE6AEB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51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143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F264-21EC-403F-BAD7-EE779D4CE556}" type="datetime1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66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AE88-24D0-4E40-B650-D4055A1B1251}" type="datetime1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67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E98EB-D3C0-41AB-9450-5C6A2B3DC5E2}" type="datetime1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19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3095-31B0-4EBF-8189-0690C7D94859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33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23C76-0632-4D97-B64F-290333C8300C}" type="datetime1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82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3FD3-80B1-4EFA-B039-311242E79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73E10-C2E0-48EC-8F91-34503C6D9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5E86E-B3F5-4B71-837D-301FE423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9CE1-8A65-4F92-926F-3B3D5BE5F948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B0081-4E38-4AEC-9C50-CB091F10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7BCD7-C78A-4F6D-8079-73D1B244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9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1157-0417-4445-ACD5-9D2DC19F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69B11-AE23-4717-80F0-32056AE0E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811D0-D98F-4E56-A343-D34A1CA8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ED43-72EF-4CF2-BF5A-D5442C30D78B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AB5D7-CF6B-4E43-9747-D2DD21AB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D08AA-5EE7-4E07-87F7-DB66C3CC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36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8685-F093-4065-B7A4-940383F2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5130A-5D87-4590-9460-E9E5F665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670B-56C5-4CFF-903C-E714ADED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F342-2980-44B4-A8DC-56771A4AD308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94358-CF65-4A3C-8379-EB58313E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6E43-B794-4171-8371-6C473898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47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C1DA-86BB-4FD0-93C0-8EB1E938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98203-CC25-4753-B257-5C7302D55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2F0CE-B252-4320-895C-AA8FF619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D71C3-F6EA-4AA6-995E-E8FBD4C1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3326-3EFC-4F92-B6E8-60DA13AE9A5E}" type="datetime1">
              <a:rPr lang="ru-RU" smtClean="0"/>
              <a:t>03.06.2026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8DC4A-7349-48B6-8637-2C23B8756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FBED-8F9D-4A92-BA4B-8385726D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8271-1BE1-462B-B24E-5B65B6FA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08278-0CBB-4C89-BBE3-55CEAA5E9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16B62-9554-4F9D-A751-D01315AF7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68B79-4952-40E9-80BD-A9DBBC8E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4EEF2-9D95-4CE4-B14A-519E32345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19A7D-A876-4AD6-8DC6-EE8F438B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5410-6627-48EC-BEA4-9047C2093C1F}" type="datetime1">
              <a:rPr lang="ru-RU" smtClean="0"/>
              <a:t>03.06.2026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4FEF6-D11D-4244-9478-D05C6F9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FA99A-425D-40F6-AA9B-DA8C0E66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09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0BCF-35E6-4F05-A42A-B3353F6B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FD793-7579-442B-B391-0A3938A8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8E74-1A12-4E24-B67C-A33EA1F89E2A}" type="datetime1">
              <a:rPr lang="ru-RU" smtClean="0"/>
              <a:t>03.06.2026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7AEBD-6578-4F17-8EA6-B63ED273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64E1F-C8BF-4E07-AAF1-45494770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26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05A2F-AE54-4024-93A5-0E487280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3571-62CF-446B-9CF9-F87D831C4799}" type="datetime1">
              <a:rPr lang="ru-RU" smtClean="0"/>
              <a:t>03.06.2026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E8728-3E83-4D80-93F7-3E493693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7C33B-8C7D-4A45-BFC1-C208D87F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96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946C-3006-4E85-A33F-C983B852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E734-8CD5-49C4-8142-1429F08A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C3A7-B202-4ECD-933D-46E1F8CC5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A68A3-2AC9-4ABE-A4ED-B8BF7A9B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5278-2CD1-4599-ABEC-C7A2DCE68022}" type="datetime1">
              <a:rPr lang="ru-RU" smtClean="0"/>
              <a:t>03.06.2026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B36FB-0BDD-4365-899F-FE5649EC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77E51-1EF3-4820-9C3C-5BD3C6BC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95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D443-91A7-4871-AA10-1E1CEECA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BDCE0-96CA-4ACF-9154-83804E2C4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C948F-AFBC-4B96-BFBE-A17F85753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C796D-3EE1-4098-94D4-CB502DB8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ED44C-EBD8-4556-B060-C28AD25339FD}" type="datetime1">
              <a:rPr lang="ru-RU" smtClean="0"/>
              <a:t>03.06.2026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495F7-FF0A-4720-8512-385C8453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CBB55-8D4B-4028-8F94-099A7F03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07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9211-F519-4772-99F5-8EB2BBD4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9A9F5-CA80-4FC9-94FE-927A3A51E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21528-CB44-43C9-B71B-E95063FE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B0D8-826B-4716-B197-6E3D84D477EA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29DD4-6D39-44E3-9C47-B857783E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7D422-C140-4E18-99CF-5BD67600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392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B173C-7D52-4656-AD61-44D914093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79142-2240-4969-99BB-3FFC19272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B1B3C-8E4A-4C63-861D-7AB5BB50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11F-5880-4A47-A2BF-6F42E5BB068A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4AB83-C7F7-49A7-BCC0-8370E81A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CB92-B42E-4CA6-ACCC-1D35F051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6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3339" y="874643"/>
            <a:ext cx="10810461" cy="816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CF4F9-95B9-4F75-ABDA-16779D4BBAE3}" type="datetime1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0E68-AB62-4326-96B0-80601A9BB6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74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200" b="1" kern="1200" cap="all" dirty="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50717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E87E9-D826-4744-9B6B-6F274881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8285E-6C41-4DAE-BC63-D308BA685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90010-420C-4733-8440-4F4E8C018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38ABA-9333-4C33-B1E1-87D8FC771DC8}" type="datetime1">
              <a:rPr lang="ru-RU" smtClean="0"/>
              <a:t>03.06.2026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FBBDE-EF52-4D7B-BC31-A5C053C2B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C9DA4-0073-4AD2-8C78-EA2C8F869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A0078-32A1-4365-B63A-A3660A3B8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1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C5BB31-EB9C-4B8E-BEAB-00EA743A2C5D}"/>
              </a:ext>
            </a:extLst>
          </p:cNvPr>
          <p:cNvSpPr txBox="1"/>
          <p:nvPr/>
        </p:nvSpPr>
        <p:spPr>
          <a:xfrm>
            <a:off x="7458891" y="4656509"/>
            <a:ext cx="4602876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coolSlant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ru-RU" sz="2000" b="1">
                <a:ln/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pPr algn="ctr"/>
            <a:r>
              <a:rPr lang="ru-RU" sz="2000">
                <a:ln/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 </a:t>
            </a:r>
          </a:p>
          <a:p>
            <a:pPr algn="ctr"/>
            <a:r>
              <a:rPr lang="ru-RU" sz="2000">
                <a:ln/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Борисов Сергей Александрович</a:t>
            </a:r>
            <a:endParaRPr lang="ru-RU" altLang="ru-RU" sz="2000">
              <a:solidFill>
                <a:srgbClr val="6507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ru-RU" sz="2000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Комплексной безопасности </a:t>
            </a:r>
          </a:p>
          <a:p>
            <a:pPr algn="ctr"/>
            <a:r>
              <a:rPr lang="ru-RU" altLang="ru-RU" sz="2000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критически важных объектов</a:t>
            </a:r>
            <a:endParaRPr lang="ru-RU" sz="2000">
              <a:ln/>
              <a:solidFill>
                <a:srgbClr val="6507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282313" y="1211156"/>
            <a:ext cx="81537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>
                <a:ln/>
                <a:solidFill>
                  <a:srgbClr val="650717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Презентация к курсовой работе по дисциплине «Комплексная безопасность объектов ТЭК» на тему: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056" y="2642639"/>
            <a:ext cx="92928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предложений по усилению безопасности объектов нефтедобывающей промышленности в современных условиях (на примере ООО "</a:t>
            </a:r>
            <a:r>
              <a:rPr lang="ru-RU" sz="3200" b="1" err="1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ВосТЭК</a:t>
            </a:r>
            <a:r>
              <a:rPr lang="ru-RU" sz="3200" b="1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586" y="4810396"/>
            <a:ext cx="3920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ctr"/>
            <a:r>
              <a:rPr lang="ru-RU" sz="2000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КС-21-04</a:t>
            </a:r>
          </a:p>
          <a:p>
            <a:pPr algn="ctr"/>
            <a:r>
              <a:rPr lang="ru-RU" sz="2000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Алибеков Амирхан Нариманович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973968A1-444D-4E72-9B83-B1C88F9C0366}"/>
              </a:ext>
            </a:extLst>
          </p:cNvPr>
          <p:cNvSpPr txBox="1">
            <a:spLocks/>
          </p:cNvSpPr>
          <p:nvPr/>
        </p:nvSpPr>
        <p:spPr>
          <a:xfrm>
            <a:off x="11503428" y="6356350"/>
            <a:ext cx="558339" cy="2744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76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A2227004-3199-4E3A-9CEA-230B498EEA6F}"/>
              </a:ext>
            </a:extLst>
          </p:cNvPr>
          <p:cNvSpPr txBox="1">
            <a:spLocks/>
          </p:cNvSpPr>
          <p:nvPr/>
        </p:nvSpPr>
        <p:spPr>
          <a:xfrm>
            <a:off x="11503428" y="6356350"/>
            <a:ext cx="558339" cy="2744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3D0E68-AB62-4326-96B0-80601A9BB6EB}" type="slidenum">
              <a:rPr lang="ru-RU" sz="4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Актуальность и постановка проблемы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820000"/>
            <a:ext cx="7060000" cy="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30000" bIns="7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1.  Угроза БПЛА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Целенаправленные удары по объектам ТЭК; малоразмерные низколетящие БПЛА почти не обнаруживаются классическими периметровыми средствами охраны.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700000"/>
            <a:ext cx="7060000" cy="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30000" bIns="7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2.  Санкции и импортозамещение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Ограничен доступ к иностранным системам безопасности, ПО и компонентной базе; существующие системы постепенно деградируют.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580000"/>
            <a:ext cx="7060000" cy="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30000" bIns="7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dirty="0">
                <a:solidFill>
                  <a:srgbClr val="650717"/>
                </a:solidFill>
                <a:latin typeface="Times New Roman"/>
                <a:cs typeface="Times New Roman"/>
              </a:rPr>
              <a:t>3.  </a:t>
            </a:r>
            <a:r>
              <a:rPr sz="1600"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Цифровизация</a:t>
            </a:r>
            <a:r>
              <a:rPr sz="1600" b="1" i="0" dirty="0">
                <a:solidFill>
                  <a:srgbClr val="650717"/>
                </a:solidFill>
                <a:latin typeface="Times New Roman"/>
                <a:cs typeface="Times New Roman"/>
              </a:rPr>
              <a:t> и </a:t>
            </a:r>
            <a:r>
              <a:rPr sz="1600"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киберуязвимость</a:t>
            </a:r>
            <a:r>
              <a:rPr sz="1600" b="1" i="0" dirty="0">
                <a:solidFill>
                  <a:srgbClr val="650717"/>
                </a:solidFill>
                <a:latin typeface="Times New Roman"/>
                <a:cs typeface="Times New Roman"/>
              </a:rPr>
              <a:t> АСУ ТП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Расширилась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поверхность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атаки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;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компьютерное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воздействие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способно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перевести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угрозу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в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плоскость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техногенной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аварии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4530000"/>
            <a:ext cx="11112000" cy="1730000"/>
          </a:xfrm>
          <a:prstGeom prst="roundRect">
            <a:avLst>
              <a:gd name="adj" fmla="val 3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90000" rIns="150000" bIns="9000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Цель</a:t>
            </a:r>
            <a:r>
              <a:rPr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работы</a:t>
            </a:r>
            <a:r>
              <a:rPr sz="2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: 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разработка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комплекса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предложений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по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усилению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безопасности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объектов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нефтедобычи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на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примере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ООО «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ВосТЭК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» с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учётом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современных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условий</a:t>
            </a:r>
            <a:r>
              <a:rPr sz="2400" b="0" i="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2" name="Рисунок 1" descr="Подписан закон о защите объектов ТЭК от дронов | Digital Russia">
            <a:extLst>
              <a:ext uri="{FF2B5EF4-FFF2-40B4-BE49-F238E27FC236}">
                <a16:creationId xmlns:a16="http://schemas.microsoft.com/office/drawing/2014/main" id="{914B6C22-397D-ED29-273A-75322223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901" y="1516488"/>
            <a:ext cx="3889548" cy="29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9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Объект, предмет и задачи исследования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5446000" cy="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40000" bIns="700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Объект</a:t>
            </a:r>
            <a:endParaRPr b="1" i="0" dirty="0">
              <a:solidFill>
                <a:srgbClr val="650717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Система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обеспечения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безопасности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объектов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нефтедобывающей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промышленности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6000" y="1820000"/>
            <a:ext cx="5446000" cy="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40000" bIns="700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Предмет</a:t>
            </a:r>
            <a:endParaRPr sz="1600" b="1" i="0" dirty="0">
              <a:solidFill>
                <a:srgbClr val="650717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Организационные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инженерно-технические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и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правовые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меры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усилению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безопасности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объектов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ООО «</a:t>
            </a:r>
            <a:r>
              <a:rPr sz="14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ВосТЭК</a:t>
            </a:r>
            <a:r>
              <a:rPr sz="1400" b="0" i="0" dirty="0">
                <a:solidFill>
                  <a:srgbClr val="262626"/>
                </a:solidFill>
                <a:latin typeface="Times New Roman"/>
                <a:cs typeface="Times New Roman"/>
              </a:rPr>
              <a:t>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920000"/>
            <a:ext cx="3570666" cy="33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00000" rIns="140000" bIns="9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систематизировать виды безопасности и их соотношение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классифицировать современные угрозы (2022–2026 гг.)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проанализировать нормативно-правовую базу защищённости объектов ТЭК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920000"/>
            <a:ext cx="3570666" cy="440000"/>
          </a:xfrm>
          <a:prstGeom prst="roundRect">
            <a:avLst>
              <a:gd name="adj" fmla="val 6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40000" rIns="11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Глава</a:t>
            </a:r>
            <a:r>
              <a:rPr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 1 — </a:t>
            </a:r>
            <a:r>
              <a:rPr sz="1600" b="1" i="0" dirty="0" err="1">
                <a:solidFill>
                  <a:srgbClr val="FFFFFF"/>
                </a:solidFill>
                <a:latin typeface="Times New Roman"/>
                <a:cs typeface="Times New Roman"/>
              </a:rPr>
              <a:t>теоретико-правовой</a:t>
            </a:r>
            <a:r>
              <a:rPr sz="1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Times New Roman"/>
                <a:cs typeface="Times New Roman"/>
              </a:rPr>
              <a:t>блок</a:t>
            </a:r>
            <a:endParaRPr sz="1600" b="1" i="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0666" y="2920000"/>
            <a:ext cx="3570666" cy="33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00000" rIns="140000" bIns="9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дать характеристику и категорировать ОПО ООО «ВосТЭК»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оценить действующую систему обеспечения безопасности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оценить уязвимости и риски (БПЛА, кибератаки, санкции)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0666" y="2920000"/>
            <a:ext cx="3570666" cy="440000"/>
          </a:xfrm>
          <a:prstGeom prst="roundRect">
            <a:avLst>
              <a:gd name="adj" fmla="val 6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40000" rIns="11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Глава 2 — аналитический блок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1333" y="2920000"/>
            <a:ext cx="3570666" cy="33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00000" rIns="140000" bIns="9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меры ИТСО и противодействия БПЛА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повышение киберустойчивости АСУ ТП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импортозамещение средств безопасности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650717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оценка эффективности и экономическое обоснование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1333" y="2920000"/>
            <a:ext cx="3570666" cy="440000"/>
          </a:xfrm>
          <a:prstGeom prst="roundRect">
            <a:avLst>
              <a:gd name="adj" fmla="val 6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40000" rIns="11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Глава 3 — проектный блок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Виды безопасности объектов нефтедобычи и их конвергенция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2643000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bIns="80000" rtlCol="0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F5C8F"/>
                </a:solidFill>
                <a:latin typeface="Times New Roman"/>
                <a:cs typeface="Times New Roman"/>
              </a:rPr>
              <a:t>(safety)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Защита от техногенных аварий · 116-ФЗ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20000"/>
            <a:ext cx="2643000" cy="420000"/>
          </a:xfrm>
          <a:prstGeom prst="roundRect">
            <a:avLst>
              <a:gd name="adj" fmla="val 7000"/>
            </a:avLst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Промышленная</a:t>
            </a:r>
          </a:p>
        </p:txBody>
      </p:sp>
      <p:sp>
        <p:nvSpPr>
          <p:cNvPr id="6" name="Down Arrow 5"/>
          <p:cNvSpPr/>
          <p:nvPr/>
        </p:nvSpPr>
        <p:spPr>
          <a:xfrm>
            <a:off x="1761500" y="3340000"/>
            <a:ext cx="200000" cy="250000"/>
          </a:xfrm>
          <a:prstGeom prst="down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3363000" y="1820000"/>
            <a:ext cx="2643000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bIns="80000" rtlCol="0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50717"/>
                </a:solidFill>
                <a:latin typeface="Times New Roman"/>
                <a:cs typeface="Times New Roman"/>
              </a:rPr>
              <a:t>(security)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Защита от противоправных посягательств · ИТСО, охрана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3000" y="1820000"/>
            <a:ext cx="2643000" cy="420000"/>
          </a:xfrm>
          <a:prstGeom prst="roundRect">
            <a:avLst>
              <a:gd name="adj" fmla="val 7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Физическая</a:t>
            </a:r>
          </a:p>
        </p:txBody>
      </p:sp>
      <p:sp>
        <p:nvSpPr>
          <p:cNvPr id="9" name="Down Arrow 8"/>
          <p:cNvSpPr/>
          <p:nvPr/>
        </p:nvSpPr>
        <p:spPr>
          <a:xfrm>
            <a:off x="4584500" y="3340000"/>
            <a:ext cx="200000" cy="250000"/>
          </a:xfrm>
          <a:prstGeom prst="down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6186000" y="1820000"/>
            <a:ext cx="2643000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bIns="80000" rtlCol="0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50717"/>
                </a:solidFill>
                <a:latin typeface="Times New Roman"/>
                <a:cs typeface="Times New Roman"/>
              </a:rPr>
              <a:t>(security)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Противодействие терактам, в т.ч. БПЛА · 35-ФЗ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000" y="1820000"/>
            <a:ext cx="2643000" cy="420000"/>
          </a:xfrm>
          <a:prstGeom prst="roundRect">
            <a:avLst>
              <a:gd name="adj" fmla="val 7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Антитеррористическая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407500" y="3340000"/>
            <a:ext cx="200000" cy="250000"/>
          </a:xfrm>
          <a:prstGeom prst="down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ed Rectangle 12"/>
          <p:cNvSpPr/>
          <p:nvPr/>
        </p:nvSpPr>
        <p:spPr>
          <a:xfrm>
            <a:off x="9009000" y="1820000"/>
            <a:ext cx="2643000" cy="14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bIns="80000" rtlCol="0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50717"/>
                </a:solidFill>
                <a:latin typeface="Times New Roman"/>
                <a:cs typeface="Times New Roman"/>
              </a:rPr>
              <a:t>(security)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Защита АСУ ТП: целостность и доступность · 187-ФЗ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9000" y="1820000"/>
            <a:ext cx="2643000" cy="420000"/>
          </a:xfrm>
          <a:prstGeom prst="roundRect">
            <a:avLst>
              <a:gd name="adj" fmla="val 7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30000" rIns="80000" bIns="30000" rtlCol="0" anchor="ctr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Информационная / кибер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230500" y="3340000"/>
            <a:ext cx="200000" cy="250000"/>
          </a:xfrm>
          <a:prstGeom prst="down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540000" y="3630000"/>
            <a:ext cx="11112000" cy="720000"/>
          </a:xfrm>
          <a:prstGeom prst="roundRect">
            <a:avLst>
              <a:gd name="adj" fmla="val 3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60000" rIns="160000" bIns="6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КОМПЛЕКСНАЯ (ИНТЕГРИРОВАННАЯ) БЕЗОПАСНОСТЬ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ED9DC"/>
                </a:solidFill>
                <a:latin typeface="Times New Roman"/>
                <a:cs typeface="Times New Roman"/>
              </a:rPr>
              <a:t>единый защитный контур на основе единой оценки рисков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500000"/>
            <a:ext cx="11112000" cy="1760000"/>
          </a:xfrm>
          <a:prstGeom prst="roundRect">
            <a:avLst>
              <a:gd name="adj" fmla="val 4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70000" rIns="160000" bIns="7000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650717"/>
                </a:solidFill>
                <a:latin typeface="Times New Roman"/>
                <a:cs typeface="Times New Roman"/>
              </a:rPr>
              <a:t>Конвергенция угроз:  </a:t>
            </a:r>
            <a:r>
              <a:rPr b="0" i="0">
                <a:solidFill>
                  <a:srgbClr val="262626"/>
                </a:solidFill>
                <a:latin typeface="Times New Roman"/>
                <a:cs typeface="Times New Roman"/>
              </a:rPr>
              <a:t>удар БПЛА и кибератака на АСУ ТП порождают техногенную аварию (security → safety); сопряжение IT- и OT-сегментов придаёт киберугрозам физические последствия.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Классификация современных угроз (2022–2026 гг.)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40147"/>
              </p:ext>
            </p:extLst>
          </p:nvPr>
        </p:nvGraphicFramePr>
        <p:xfrm>
          <a:off x="540000" y="1820000"/>
          <a:ext cx="11112000" cy="3580000"/>
        </p:xfrm>
        <a:graphic>
          <a:graphicData uri="http://schemas.openxmlformats.org/drawingml/2006/table">
            <a:tbl>
              <a:tblPr/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Основание классификации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Виды угроз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 источнику происхождения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Природные; техногенные; антропогенные (социальные)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 характеру воздействия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Непреднамеренные; преднамеренные (акты незаконного вмешательства)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 среде реализации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Наземные; </a:t>
                      </a: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воздушные (БПЛА); информационные (кибератаки на АСУ ТП)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 расположению источника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Внешние; внутренние; смешанные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 воздействию на защитный контур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Прямые</a:t>
                      </a:r>
                      <a:r>
                        <a:rPr sz="18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; </a:t>
                      </a:r>
                      <a:r>
                        <a:rPr sz="1800" b="1" i="0" dirty="0" err="1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системные</a:t>
                      </a:r>
                      <a:r>
                        <a:rPr sz="1800" b="1" i="0" dirty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 / </a:t>
                      </a:r>
                      <a:r>
                        <a:rPr sz="1800" b="1" i="0" dirty="0" err="1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санкционно-технологические</a:t>
                      </a:r>
                      <a:r>
                        <a:rPr sz="1800" b="1" i="0" dirty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800" b="1" i="0" dirty="0" err="1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угрозы</a:t>
                      </a:r>
                      <a:r>
                        <a:rPr sz="1800" b="1" i="0" dirty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второго</a:t>
                      </a:r>
                      <a:r>
                        <a:rPr sz="1800" b="1" i="0" dirty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i="0" dirty="0" err="1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порядка</a:t>
                      </a:r>
                      <a:r>
                        <a:rPr sz="1800" b="1" i="0" dirty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5550000"/>
            <a:ext cx="11112000" cy="710000"/>
          </a:xfrm>
          <a:prstGeom prst="roundRect">
            <a:avLst>
              <a:gd name="adj" fmla="val 5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5000" rIns="150000" bIns="5500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Вывод</a:t>
            </a:r>
            <a:r>
              <a:rPr sz="1600" b="1" i="0" dirty="0">
                <a:solidFill>
                  <a:srgbClr val="650717"/>
                </a:solidFill>
                <a:latin typeface="Times New Roman"/>
                <a:cs typeface="Times New Roman"/>
              </a:rPr>
              <a:t>: 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доминирование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непреднамеренных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техногенных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рисков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сменилось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ростом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преднамеренных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посягательств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в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воздушной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и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информационной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сферах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усиленным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санкционной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деградацией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защитных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средств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Нормативно-правовое регулирование защищённости объектов ТЭК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371503"/>
              </p:ext>
            </p:extLst>
          </p:nvPr>
        </p:nvGraphicFramePr>
        <p:xfrm>
          <a:off x="540000" y="1584026"/>
          <a:ext cx="11112000" cy="4095450"/>
        </p:xfrm>
        <a:graphic>
          <a:graphicData uri="http://schemas.openxmlformats.org/drawingml/2006/table">
            <a:tbl>
              <a:tblPr/>
              <a:tblGrid>
                <a:gridCol w="1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Нормативный акт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Домен безопасности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Ключевые механизмы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Регулятор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ФЗ № 116-ФЗ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Промышленная (safety)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Классы опасности, декларирование, экспертиза ПБ, производственный контроль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Ростехнадзор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ФЗ № 256-ФЗ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Безопасность объектов ТЭК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Категорирование, паспорт безопасности, реестр объектов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Минэнерго, ФСБ, Росгвардия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ФЗ № 35-ФЗ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Антитеррористическая защищённость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Требования к АТЗ, общая рамка противодействия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НАК, ФСБ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ФЗ № 187-ФЗ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Кибербезопасность КИИ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Категорирование значимых объектов, ГосСОПКА, требования ИБ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ФСТЭК, ФСБ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Указы № 166, № 250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Технологическая независимость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Запрет иностранного ПО и СЗИ на значимых объектах КИИ с 2025 г.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Минцифры, ФСТЭК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Воздушный кодекс + формирующиеся нормы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Противодействие БПЛА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Ограничения полётов, полномочия по нейтрализации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Росавиация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Росгвардия</a:t>
                      </a:r>
                      <a:endParaRPr sz="1400" b="0" i="0" dirty="0">
                        <a:solidFill>
                          <a:srgbClr val="26262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5750000"/>
            <a:ext cx="11112000" cy="510000"/>
          </a:xfrm>
          <a:prstGeom prst="roundRect">
            <a:avLst>
              <a:gd name="adj" fmla="val 5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0000" rIns="150000" bIns="5000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650717"/>
                </a:solidFill>
                <a:latin typeface="Times New Roman"/>
                <a:cs typeface="Times New Roman"/>
              </a:rPr>
              <a:t>Вывод</a:t>
            </a:r>
            <a:r>
              <a:rPr sz="1600" b="1" i="0" dirty="0">
                <a:solidFill>
                  <a:srgbClr val="650717"/>
                </a:solidFill>
                <a:latin typeface="Times New Roman"/>
                <a:cs typeface="Times New Roman"/>
              </a:rPr>
              <a:t>: 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база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развита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но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сегментирована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доменам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;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адаптация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неравномерна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импортозамещение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обязательно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а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режим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противодействия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БПЛА в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стадии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становления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регуляторный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пробел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решается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на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объектовом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уровне</a:t>
            </a:r>
            <a:r>
              <a:rPr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ООО «ВосТЭК»: характеристика и категорирование объектов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11112000" cy="760000"/>
          </a:xfrm>
          <a:prstGeom prst="roundRect">
            <a:avLst>
              <a:gd name="adj" fmla="val 4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ООО «ВосТЭК»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— нефтедобывающее предприятие (Восточное месторождение). В составе: кустовые площадки скважин, дожимная насосная станция (ДНС), установка подготовки нефти (УПН) с резервуарным парком, нефтесборные трубопроводы, операторные с АСУ ТП.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55650"/>
              </p:ext>
            </p:extLst>
          </p:nvPr>
        </p:nvGraphicFramePr>
        <p:xfrm>
          <a:off x="540000" y="2750000"/>
          <a:ext cx="11112000" cy="2780000"/>
        </p:xfrm>
        <a:graphic>
          <a:graphicData uri="http://schemas.openxmlformats.org/drawingml/2006/table">
            <a:tbl>
              <a:tblPr/>
              <a:tblGrid>
                <a:gridCol w="4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Объект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Класс ОПО (116-ФЗ)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Категория ТЭК (256-ФЗ)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Статус КИИ (187-ФЗ)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УПН с резервуарным парком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II класс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Высокая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Значимый, 2-я кат.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Дожимная насосная станция (ДНС)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III класс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Средняя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Кустовые площадки скважин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III класс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650717"/>
                          </a:solidFill>
                          <a:latin typeface="Times New Roman"/>
                          <a:cs typeface="Times New Roman"/>
                        </a:rPr>
                        <a:t>АСУ ТП УПН (операторная)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Значимый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, 2-я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кат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5680000"/>
            <a:ext cx="11112000" cy="580000"/>
          </a:xfrm>
          <a:prstGeom prst="roundRect">
            <a:avLst>
              <a:gd name="adj" fmla="val 4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5000" rIns="150000" bIns="55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Объекты предприятия одновременно подпадают под четыре правовых режима → требуется комплексная защита.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Анализ действующей системы безопасности: SWOT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5446000" cy="2140000"/>
          </a:xfrm>
          <a:prstGeom prst="roundRect">
            <a:avLst>
              <a:gd name="adj" fmla="val 3500"/>
            </a:avLst>
          </a:prstGeom>
          <a:solidFill>
            <a:srgbClr val="E7F1E9"/>
          </a:solidFill>
          <a:ln w="15875">
            <a:solidFill>
              <a:srgbClr val="2E6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440000" rIns="150000" bIns="8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6B3E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сформированная служба безопасности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6B3E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оформлены паспорт безопасности (256-ФЗ) и декларация ПБ (116-ФЗ)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6B3E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периметровые ИТСО, СКУД, видеонаблюдение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6B3E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штатная физическая охрана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820000"/>
            <a:ext cx="5446000" cy="400000"/>
          </a:xfrm>
          <a:prstGeom prst="roundRect">
            <a:avLst>
              <a:gd name="adj" fmla="val 5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30000" rIns="120000" bIns="30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Сильные стороны (S)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6000" y="1820000"/>
            <a:ext cx="5446000" cy="2140000"/>
          </a:xfrm>
          <a:prstGeom prst="roundRect">
            <a:avLst>
              <a:gd name="adj" fmla="val 3500"/>
            </a:avLst>
          </a:prstGeom>
          <a:solidFill>
            <a:srgbClr val="F6E7E6"/>
          </a:solidFill>
          <a:ln w="15875">
            <a:solidFill>
              <a:srgbClr val="9E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440000" rIns="150000" bIns="8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E2A2B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отсутствуют средства обнаружения и подавления БПЛА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E2A2B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слабая сегментация сетей IT/OT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E2A2B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зависимость от импортных СЗИ и ПО АСУ ТП без поддержки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E2A2B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устаревшие средства обнаружения периметра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6000" y="1820000"/>
            <a:ext cx="5446000" cy="400000"/>
          </a:xfrm>
          <a:prstGeom prst="roundRect">
            <a:avLst>
              <a:gd name="adj" fmla="val 5000"/>
            </a:avLst>
          </a:prstGeom>
          <a:solidFill>
            <a:srgbClr val="9E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30000" rIns="120000" bIns="30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Слабые стороны (W)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4120000"/>
            <a:ext cx="5446000" cy="2140000"/>
          </a:xfrm>
          <a:prstGeom prst="roundRect">
            <a:avLst>
              <a:gd name="adj" fmla="val 3500"/>
            </a:avLst>
          </a:prstGeom>
          <a:solidFill>
            <a:srgbClr val="E6EEF6"/>
          </a:solidFill>
          <a:ln w="1587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440000" rIns="150000" bIns="8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F5C8F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господдержка импортозамещения, субсидии и льготы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F5C8F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реестры отечественного ПО и оборудования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F5C8F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развитие отечественных средств РЭБ и обнаружения БПЛА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F5C8F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нормативный приоритет защиты объектов ТЭК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4120000"/>
            <a:ext cx="5446000" cy="400000"/>
          </a:xfrm>
          <a:prstGeom prst="roundRect">
            <a:avLst>
              <a:gd name="adj" fmla="val 5000"/>
            </a:avLst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30000" rIns="120000" bIns="30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Возможности (O)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6000" y="4120000"/>
            <a:ext cx="5446000" cy="2140000"/>
          </a:xfrm>
          <a:prstGeom prst="roundRect">
            <a:avLst>
              <a:gd name="adj" fmla="val 3500"/>
            </a:avLst>
          </a:prstGeom>
          <a:solidFill>
            <a:srgbClr val="F7EEDD"/>
          </a:solidFill>
          <a:ln w="15875">
            <a:solidFill>
              <a:srgbClr val="B2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0" tIns="440000" rIns="150000" bIns="8000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26B00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рост числа атак БПЛА на объекты ТЭК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26B00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целевые кибератаки на АСУ ТП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26B00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санкционная деградация импортных систем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26B00"/>
                </a:solidFill>
                <a:latin typeface="Times New Roman"/>
                <a:cs typeface="Times New Roman"/>
              </a:rPr>
              <a:t>—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ужесточение требований (запрет иностранного ПО с 2025 г.)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000" y="4120000"/>
            <a:ext cx="5446000" cy="400000"/>
          </a:xfrm>
          <a:prstGeom prst="roundRect">
            <a:avLst>
              <a:gd name="adj" fmla="val 5000"/>
            </a:avLst>
          </a:prstGeom>
          <a:solidFill>
            <a:srgbClr val="B2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30000" rIns="120000" bIns="300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Угрозы (T)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Оценка уязвимостей и рисков объектов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0000" y="1880000"/>
            <a:ext cx="1766666" cy="420000"/>
          </a:xfrm>
          <a:prstGeom prst="rect">
            <a:avLst/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Низкая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056666" y="1880000"/>
            <a:ext cx="1766666" cy="420000"/>
          </a:xfrm>
          <a:prstGeom prst="rect">
            <a:avLst/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Средняя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3333" y="1880000"/>
            <a:ext cx="1766666" cy="420000"/>
          </a:xfrm>
          <a:prstGeom prst="rect">
            <a:avLst/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20000" rIns="20000" bIns="2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Высокая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880000"/>
            <a:ext cx="1750000" cy="420000"/>
          </a:xfrm>
          <a:prstGeom prst="rect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" tIns="16000" rIns="16000" bIns="1600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Тяжесть \ Вероятность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00000"/>
            <a:ext cx="1750000" cy="1313333"/>
          </a:xfrm>
          <a:prstGeom prst="rect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" tIns="16000" rIns="16000" bIns="1600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Катастрофические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0000" y="2300000"/>
            <a:ext cx="1766666" cy="1313333"/>
          </a:xfrm>
          <a:prstGeom prst="rect">
            <a:avLst/>
          </a:prstGeom>
          <a:solidFill>
            <a:srgbClr val="F6E2B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4056666" y="2300000"/>
            <a:ext cx="1766666" cy="1313333"/>
          </a:xfrm>
          <a:prstGeom prst="rect">
            <a:avLst/>
          </a:prstGeom>
          <a:solidFill>
            <a:srgbClr val="F2C4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5823333" y="2300000"/>
            <a:ext cx="1766666" cy="1313333"/>
          </a:xfrm>
          <a:prstGeom prst="rect">
            <a:avLst/>
          </a:prstGeom>
          <a:solidFill>
            <a:srgbClr val="D46B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30000" rIns="40000" bIns="30000" rtlCol="0" anchor="ctr"/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БПЛА по УПН /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  <a:cs typeface="Times New Roman"/>
              </a:rPr>
              <a:t>резервуарному парку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3613333"/>
            <a:ext cx="1750000" cy="1313333"/>
          </a:xfrm>
          <a:prstGeom prst="rect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" tIns="16000" rIns="16000" bIns="1600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Тяжёлые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0000" y="3613333"/>
            <a:ext cx="1766666" cy="1313333"/>
          </a:xfrm>
          <a:prstGeom prst="rect">
            <a:avLst/>
          </a:prstGeom>
          <a:solidFill>
            <a:srgbClr val="CFE8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4056666" y="3613333"/>
            <a:ext cx="1766666" cy="1313333"/>
          </a:xfrm>
          <a:prstGeom prst="rect">
            <a:avLst/>
          </a:prstGeom>
          <a:solidFill>
            <a:srgbClr val="F6E2B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30000" rIns="40000" bIns="30000" rtlCol="0" anchor="ctr"/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Times New Roman"/>
                <a:cs typeface="Times New Roman"/>
              </a:rPr>
              <a:t>Кибератака на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Times New Roman"/>
                <a:cs typeface="Times New Roman"/>
              </a:rPr>
              <a:t>АСУ ТП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3333" y="3613333"/>
            <a:ext cx="1766666" cy="1313333"/>
          </a:xfrm>
          <a:prstGeom prst="rect">
            <a:avLst/>
          </a:prstGeom>
          <a:solidFill>
            <a:srgbClr val="F2C4C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6" name="Rectangle 15"/>
          <p:cNvSpPr/>
          <p:nvPr/>
        </p:nvSpPr>
        <p:spPr>
          <a:xfrm>
            <a:off x="540000" y="4926666"/>
            <a:ext cx="1750000" cy="1313333"/>
          </a:xfrm>
          <a:prstGeom prst="rect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0" tIns="16000" rIns="16000" bIns="1600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  <a:cs typeface="Times New Roman"/>
              </a:rPr>
              <a:t>Средние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0000" y="4926666"/>
            <a:ext cx="1766666" cy="1313333"/>
          </a:xfrm>
          <a:prstGeom prst="rect">
            <a:avLst/>
          </a:prstGeom>
          <a:solidFill>
            <a:srgbClr val="CFE8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4056666" y="4926666"/>
            <a:ext cx="1766666" cy="1313333"/>
          </a:xfrm>
          <a:prstGeom prst="rect">
            <a:avLst/>
          </a:prstGeom>
          <a:solidFill>
            <a:srgbClr val="CFE8D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5823333" y="4926666"/>
            <a:ext cx="1766666" cy="1313333"/>
          </a:xfrm>
          <a:prstGeom prst="rect">
            <a:avLst/>
          </a:prstGeom>
          <a:solidFill>
            <a:srgbClr val="F6E2B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30000" rIns="40000" bIns="30000" rtlCol="0" anchor="ctr"/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Times New Roman"/>
                <a:cs typeface="Times New Roman"/>
              </a:rPr>
              <a:t>Санкционная деградация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Times New Roman"/>
                <a:cs typeface="Times New Roman"/>
              </a:rPr>
              <a:t>СЗИ и АСУ ТП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0000" y="1880000"/>
            <a:ext cx="3802000" cy="17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90000" rIns="140000" bIns="8000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1" i="0">
                <a:solidFill>
                  <a:srgbClr val="650717"/>
                </a:solidFill>
                <a:latin typeface="Times New Roman"/>
                <a:cs typeface="Times New Roman"/>
              </a:rPr>
              <a:t>Уровень риска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D46B6B"/>
                </a:solidFill>
                <a:latin typeface="Times New Roman"/>
                <a:cs typeface="Times New Roman"/>
              </a:rPr>
              <a:t>■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Критический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F2C4C0"/>
                </a:solidFill>
                <a:latin typeface="Times New Roman"/>
                <a:cs typeface="Times New Roman"/>
              </a:rPr>
              <a:t>■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Высокий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F6E2B3"/>
                </a:solidFill>
                <a:latin typeface="Times New Roman"/>
                <a:cs typeface="Times New Roman"/>
              </a:rPr>
              <a:t>■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Средний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FE8D4"/>
                </a:solidFill>
                <a:latin typeface="Times New Roman"/>
                <a:cs typeface="Times New Roman"/>
              </a:rPr>
              <a:t>■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Низкий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0000" y="3750000"/>
            <a:ext cx="3802000" cy="2510000"/>
          </a:xfrm>
          <a:prstGeom prst="roundRect">
            <a:avLst>
              <a:gd name="adj" fmla="val 5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80000" rIns="140000" bIns="80000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650717"/>
                </a:solidFill>
                <a:latin typeface="Times New Roman"/>
                <a:cs typeface="Times New Roman"/>
              </a:rPr>
              <a:t>Вывод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  <a:cs typeface="Times New Roman"/>
              </a:rPr>
              <a:t>Наибольший риск — поражение УПН/резервуарного парка БПЛА. Угрозы взаимоусиливаются: санкционная деградация повышает уязвимость к БПЛА, кибератака может применяться синхронно с физическим воздействием.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Совершенствование ИТСО и противодействие БПЛА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7060000" cy="7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55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Обнаружение.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РЛС малых высот, радиочастотные детекторы, оптико-электронные и акустические средства — раннее выявление малоразмерных низколетящих БПЛА.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2610000"/>
            <a:ext cx="7060000" cy="7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55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Нейтрализация.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Средства РЭБ — подавление каналов управления и спутниковой навигации (ГНСС) в зоне объекта.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400000"/>
            <a:ext cx="7060000" cy="7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55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Пассивная защита.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Защитные экраны и сетки над резервуарами и УПН, рассредоточение критичных элементов.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4190000"/>
            <a:ext cx="7060000" cy="7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55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Модернизация периметра.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Интеграция ИТСО с видеоаналитикой, дублирование рубежей охраны.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4980000"/>
            <a:ext cx="7060000" cy="7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55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Организационные меры.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Дежурные расчёты, регламенты реагирования, совместные учения с Росгвардией.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000" y="4270000"/>
            <a:ext cx="3792000" cy="1990000"/>
          </a:xfrm>
          <a:prstGeom prst="roundRect">
            <a:avLst>
              <a:gd name="adj" fmla="val 40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70000" rIns="150000" bIns="700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Многорубежный принцип: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ED9DC"/>
                </a:solidFill>
                <a:latin typeface="Times New Roman"/>
                <a:cs typeface="Times New Roman"/>
              </a:rPr>
              <a:t>«обнаружение — нейтрализация — защита»</a:t>
            </a:r>
          </a:p>
        </p:txBody>
      </p:sp>
      <p:pic>
        <p:nvPicPr>
          <p:cNvPr id="11" name="Рисунок 10" descr="Антидроновые ружья ПАРС купить, цена, отзывы - Detector Systems">
            <a:extLst>
              <a:ext uri="{FF2B5EF4-FFF2-40B4-BE49-F238E27FC236}">
                <a16:creationId xmlns:a16="http://schemas.microsoft.com/office/drawing/2014/main" id="{A4C0D25E-3218-2F34-A652-6A0A8985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67" b="26795"/>
          <a:stretch>
            <a:fillRect/>
          </a:stretch>
        </p:blipFill>
        <p:spPr>
          <a:xfrm>
            <a:off x="7804092" y="1990000"/>
            <a:ext cx="4257675" cy="19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Повышение киберустойчивости АСУ ТП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820000"/>
            <a:ext cx="3050000" cy="1080000"/>
          </a:xfrm>
          <a:prstGeom prst="roundRect">
            <a:avLst>
              <a:gd name="adj" fmla="val 4500"/>
            </a:avLst>
          </a:prstGeom>
          <a:solidFill>
            <a:srgbClr val="E6EEF6"/>
          </a:solidFill>
          <a:ln w="15875">
            <a:solidFill>
              <a:srgbClr val="2F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60000" rIns="120000" bIns="6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C8F"/>
                </a:solidFill>
                <a:latin typeface="Times New Roman"/>
                <a:cs typeface="Times New Roman"/>
              </a:rPr>
              <a:t>Корпоративная сеть (IT)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6000" y="1820000"/>
            <a:ext cx="2400000" cy="1080000"/>
          </a:xfrm>
          <a:prstGeom prst="roundRect">
            <a:avLst>
              <a:gd name="adj" fmla="val 4500"/>
            </a:avLst>
          </a:prstGeom>
          <a:solidFill>
            <a:srgbClr val="650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60000" rIns="90000" bIns="6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Однонаправленный шлюз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ED9DC"/>
                </a:solidFill>
                <a:latin typeface="Times New Roman"/>
                <a:cs typeface="Times New Roman"/>
              </a:rPr>
              <a:t>(диод данных)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02000" y="1820000"/>
            <a:ext cx="3050000" cy="1080000"/>
          </a:xfrm>
          <a:prstGeom prst="roundRect">
            <a:avLst>
              <a:gd name="adj" fmla="val 4500"/>
            </a:avLst>
          </a:prstGeom>
          <a:solidFill>
            <a:srgbClr val="F3ECED"/>
          </a:solidFill>
          <a:ln w="15875">
            <a:solidFill>
              <a:srgbClr val="650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60000" rIns="120000" bIns="60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650717"/>
                </a:solidFill>
                <a:latin typeface="Times New Roman"/>
                <a:cs typeface="Times New Roman"/>
              </a:rPr>
              <a:t>Технологическая сеть · АСУ ТП (OT)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20000" y="2275000"/>
            <a:ext cx="1246000" cy="170000"/>
          </a:xfrm>
          <a:prstGeom prst="right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ight Arrow 7"/>
          <p:cNvSpPr/>
          <p:nvPr/>
        </p:nvSpPr>
        <p:spPr>
          <a:xfrm>
            <a:off x="7326000" y="2275000"/>
            <a:ext cx="1246000" cy="170000"/>
          </a:xfrm>
          <a:prstGeom prst="rightArrow">
            <a:avLst/>
          </a:prstGeom>
          <a:solidFill>
            <a:srgbClr val="8C2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540000" y="3080000"/>
            <a:ext cx="11112000" cy="5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40000" rIns="15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Сегментация и изоляция сетей IT/OT.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однонаправленные шлюзы (диоды данных) между корпоративным и технологическим контурами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728000"/>
            <a:ext cx="11112000" cy="5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40000" rIns="15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Отечественные средства защиты.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промышленные межсетевые экраны и системы обнаружения вторжений; наложенные СЗИ для АСУ ТП (приказ ФСТЭК № 239)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376000"/>
            <a:ext cx="11112000" cy="5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40000" rIns="15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Подключение к ГосСОПКА.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информирование о компьютерных инцидентах через НКЦКИ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5024000"/>
            <a:ext cx="11112000" cy="5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40000" rIns="15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Мониторинг и устойчивость.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централизованный мониторинг (SIEM), управление обновлениями, резервирование критичных узлов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5672000"/>
            <a:ext cx="11112000" cy="588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B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40000" rIns="150000" bIns="400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50717"/>
                </a:solidFill>
                <a:latin typeface="Times New Roman"/>
                <a:cs typeface="Times New Roman"/>
              </a:rPr>
              <a:t>Замещение неподдерживаемого ПО.  </a:t>
            </a:r>
            <a:r>
              <a:rPr sz="1600" b="0" i="0">
                <a:solidFill>
                  <a:srgbClr val="262626"/>
                </a:solidFill>
                <a:latin typeface="Times New Roman"/>
                <a:cs typeface="Times New Roman"/>
              </a:rPr>
              <a:t>переход с иностранного ПО АСУ ТП на доверенные отечественные решения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03428" y="6356350"/>
            <a:ext cx="558339" cy="2744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200" b="0" i="0">
                <a:solidFill>
                  <a:srgbClr val="595959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40000"/>
            <a:ext cx="1111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50717"/>
                </a:solidFill>
                <a:latin typeface="Times New Roman"/>
                <a:cs typeface="Times New Roman"/>
              </a:rPr>
              <a:t>Импортозамещение технических средств обеспечения безопасности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060632"/>
              </p:ext>
            </p:extLst>
          </p:nvPr>
        </p:nvGraphicFramePr>
        <p:xfrm>
          <a:off x="540000" y="1820000"/>
          <a:ext cx="11112000" cy="3420000"/>
        </p:xfrm>
        <a:graphic>
          <a:graphicData uri="http://schemas.openxmlformats.org/drawingml/2006/table">
            <a:tbl>
              <a:tblPr/>
              <a:tblGrid>
                <a:gridCol w="3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Импортное средство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Отечественное решение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Правовое основание / реестр</a:t>
                      </a:r>
                    </a:p>
                  </a:txBody>
                  <a:tcPr marL="82000" marR="82000" marT="28000" marB="28000" anchor="ctr">
                    <a:solidFill>
                      <a:srgbClr val="650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Видеонаблюдение (импортные камеры/VMS)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2E6B3E"/>
                          </a:solidFill>
                          <a:latin typeface="Times New Roman"/>
                          <a:cs typeface="Times New Roman"/>
                        </a:rPr>
                        <a:t>Отечественные IP-камеры и ПО видеоаналитики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Реестр Минпромторга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Платформа АСУ ТП (импортные ПЛК/SCADA)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2E6B3E"/>
                          </a:solidFill>
                          <a:latin typeface="Times New Roman"/>
                          <a:cs typeface="Times New Roman"/>
                        </a:rPr>
                        <a:t>Отечественные ПЛК и SCADA-системы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Реестр российского ПО (Минцифры)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Операционные системы и СУБД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2E6B3E"/>
                          </a:solidFill>
                          <a:latin typeface="Times New Roman"/>
                          <a:cs typeface="Times New Roman"/>
                        </a:rPr>
                        <a:t>Отечественные ОС и СУБД из реестра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Указ № 166; реестр ПО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Средства защиты информации (МЭ, СОВ)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2E6B3E"/>
                          </a:solidFill>
                          <a:latin typeface="Times New Roman"/>
                          <a:cs typeface="Times New Roman"/>
                        </a:rPr>
                        <a:t>Сертифицированные ФСТЭК отечественные СЗИ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Указ № 250; требования ФСТЭК</a:t>
                      </a:r>
                    </a:p>
                  </a:txBody>
                  <a:tcPr marL="82000" marR="82000" marT="28000" marB="28000" anchor="ctr">
                    <a:solidFill>
                      <a:srgbClr val="F3E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0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СКУД (импортные контроллеры)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2E6B3E"/>
                          </a:solidFill>
                          <a:latin typeface="Times New Roman"/>
                          <a:cs typeface="Times New Roman"/>
                        </a:rPr>
                        <a:t>Отечественные системы и контроллеры СКУД</a:t>
                      </a: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Реестр</a:t>
                      </a:r>
                      <a:r>
                        <a:rPr sz="16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Минпромторга</a:t>
                      </a:r>
                      <a:endParaRPr sz="1600" b="0" i="0" dirty="0">
                        <a:solidFill>
                          <a:srgbClr val="262626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82000" marR="82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5390000"/>
            <a:ext cx="11112000" cy="870000"/>
          </a:xfrm>
          <a:prstGeom prst="roundRect">
            <a:avLst>
              <a:gd name="adj" fmla="val 5000"/>
            </a:avLst>
          </a:prstGeom>
          <a:solidFill>
            <a:srgbClr val="F3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55000" rIns="150000" bIns="5500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650717"/>
                </a:solidFill>
                <a:latin typeface="Times New Roman"/>
                <a:cs typeface="Times New Roman"/>
              </a:rPr>
              <a:t>Вывод:  </a:t>
            </a:r>
            <a:r>
              <a:rPr b="0" i="0">
                <a:solidFill>
                  <a:srgbClr val="262626"/>
                </a:solidFill>
                <a:latin typeface="Times New Roman"/>
                <a:cs typeface="Times New Roman"/>
              </a:rPr>
              <a:t>импортозамещение — не только техническая мера, но юридически обязательное требование (Указы № 166 и № 250; запрет иностранного ПО на значимых объектах КИИ с 2025 г.).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32B938F-FC07-4B14-BB00-4783D8B65473}"/>
              </a:ext>
            </a:extLst>
          </p:cNvPr>
          <p:cNvSpPr txBox="1">
            <a:spLocks/>
          </p:cNvSpPr>
          <p:nvPr/>
        </p:nvSpPr>
        <p:spPr>
          <a:xfrm>
            <a:off x="592292" y="867064"/>
            <a:ext cx="10851751" cy="988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>
                <a:solidFill>
                  <a:srgbClr val="650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167" y="1551380"/>
            <a:ext cx="11599600" cy="4654159"/>
          </a:xfrm>
          <a:prstGeom prst="rect">
            <a:avLst/>
          </a:prstGeom>
          <a:noFill/>
        </p:spPr>
        <p:txBody>
          <a:bodyPr wrap="square" lIns="40000" tIns="0" rIns="4000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1. 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Структура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угроз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объектам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нефтедобычи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в 2022–2026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гг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качественно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изменилась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: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от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непреднамеренных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техногенных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рисков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— к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преднамеренным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посягательствам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в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воздушной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(БПЛА) и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информационной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(АСУ ТП)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сферах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усиленным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санкционной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деградацией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защитных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средств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2. 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Виды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безопасности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конвергируют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—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обоснован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переход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к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парадигме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комплексной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(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интегрированной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)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безопасности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основе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единой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оценки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рисков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3. 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Нормативная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база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развита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сегментирована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и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адаптируется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неравномерно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: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импортозамещение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обязательно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режим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противодействия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БПЛА — в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стадии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становления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4. 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Для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ООО «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ВосТЭК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»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выявлены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ключевые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уязвимости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(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отсутствие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противодействия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БПЛА,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слабая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IT/OT-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сегментация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импортозависимость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);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наибольший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риск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—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поражение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УПН и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резервуарного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парка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5.  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Разработан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комплекс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мер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: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многорубежное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противодействие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БПЛА,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повышение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киберустойчивости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АСУ ТП,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импортозамещение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СЗИ —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как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элементы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единого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защитного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контура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 dirty="0">
                <a:solidFill>
                  <a:srgbClr val="650717"/>
                </a:solidFill>
                <a:latin typeface="Times New Roman"/>
                <a:cs typeface="Times New Roman"/>
              </a:rPr>
              <a:t>6. 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Экономическое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обоснование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подтверждает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целесообразность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: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затраты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несопоставимо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ниже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предотвращаемого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ущерба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Цель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работы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достигнута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задачи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Times New Roman"/>
                <a:cs typeface="Times New Roman"/>
              </a:rPr>
              <a:t>решены</a:t>
            </a:r>
            <a:r>
              <a:rPr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79638" y="6356350"/>
            <a:ext cx="282129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200" b="0" i="0" dirty="0">
                <a:solidFill>
                  <a:srgbClr val="595959"/>
                </a:solidFill>
                <a:latin typeface="Times New Roman"/>
                <a:cs typeface="Times New Roman"/>
              </a:rPr>
              <a:t>13</a:t>
            </a:r>
            <a:endParaRPr sz="2200" b="0" i="0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2089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1427</Words>
  <Application>Microsoft Office PowerPoint</Application>
  <PresentationFormat>Широкоэкранный</PresentationFormat>
  <Paragraphs>218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Arial Narrow</vt:lpstr>
      <vt:lpstr>Calibri</vt:lpstr>
      <vt:lpstr>Calibri Light</vt:lpstr>
      <vt:lpstr>Impact</vt:lpstr>
      <vt:lpstr>Times New Roman</vt:lpstr>
      <vt:lpstr>Тема Office</vt:lpstr>
      <vt:lpstr>Custom Design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CBRGU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mirta</dc:creator>
  <cp:lastModifiedBy>Амирхан Алибеков</cp:lastModifiedBy>
  <cp:revision>2</cp:revision>
  <dcterms:created xsi:type="dcterms:W3CDTF">2018-11-22T07:37:53Z</dcterms:created>
  <dcterms:modified xsi:type="dcterms:W3CDTF">2026-06-03T13:49:56Z</dcterms:modified>
</cp:coreProperties>
</file>